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61" r:id="rId5"/>
  </p:sldIdLst>
  <p:sldSz cx="374904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96" userDrawn="1">
          <p15:clr>
            <a:srgbClr val="A4A3A4"/>
          </p15:clr>
        </p15:guide>
        <p15:guide id="2" pos="118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454D34-B67D-2A57-FAC1-F631C3D0E0B8}" name="Ryan Hamberg" initials="RH" userId="S::ryan.hamberg@agnet.tamu.edu::8eaeff05-adc4-43b0-8155-ff9b6fc19b05" providerId="AD"/>
  <p188:author id="{E7F79157-AF77-A92C-2A78-D5EB9FC05192}" name="Sarah Chu" initials="SC" userId="S::sarah.chu@agnet.tamu.edu::b8a8873d-92dc-4baf-91df-91165c6e957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lin Yu" initials="JY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ACC"/>
    <a:srgbClr val="E95E59"/>
    <a:srgbClr val="F58731"/>
    <a:srgbClr val="516485"/>
    <a:srgbClr val="DF644B"/>
    <a:srgbClr val="389CE0"/>
    <a:srgbClr val="517765"/>
    <a:srgbClr val="3891AE"/>
    <a:srgbClr val="2F5597"/>
    <a:srgbClr val="446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AE31B-EE76-4262-9ECE-B05DB3E94B24}" v="1" dt="2025-11-08T01:08:31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4660"/>
  </p:normalViewPr>
  <p:slideViewPr>
    <p:cSldViewPr snapToGrid="0">
      <p:cViewPr varScale="1">
        <p:scale>
          <a:sx n="11" d="100"/>
          <a:sy n="11" d="100"/>
        </p:scale>
        <p:origin x="3219" y="21"/>
      </p:cViewPr>
      <p:guideLst>
        <p:guide orient="horz" pos="12096"/>
        <p:guide pos="118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Loura" userId="2da64f9b-03bf-4a05-8b48-46916d4ab81c" providerId="ADAL" clId="{D0C7B8AB-0472-46BE-9BC8-F83FD286806C}"/>
    <pc:docChg chg="undo custSel addSld delSld modSld">
      <pc:chgData name="Deepak Loura" userId="2da64f9b-03bf-4a05-8b48-46916d4ab81c" providerId="ADAL" clId="{D0C7B8AB-0472-46BE-9BC8-F83FD286806C}" dt="2025-11-08T01:11:47.791" v="2222" actId="1076"/>
      <pc:docMkLst>
        <pc:docMk/>
      </pc:docMkLst>
      <pc:sldChg chg="addSp delSp modSp mod">
        <pc:chgData name="Deepak Loura" userId="2da64f9b-03bf-4a05-8b48-46916d4ab81c" providerId="ADAL" clId="{D0C7B8AB-0472-46BE-9BC8-F83FD286806C}" dt="2025-11-08T01:11:47.791" v="2222" actId="1076"/>
        <pc:sldMkLst>
          <pc:docMk/>
          <pc:sldMk cId="1677277842" sldId="261"/>
        </pc:sldMkLst>
        <pc:spChg chg="add mod">
          <ac:chgData name="Deepak Loura" userId="2da64f9b-03bf-4a05-8b48-46916d4ab81c" providerId="ADAL" clId="{D0C7B8AB-0472-46BE-9BC8-F83FD286806C}" dt="2025-11-08T01:11:47.791" v="2222" actId="1076"/>
          <ac:spMkLst>
            <pc:docMk/>
            <pc:sldMk cId="1677277842" sldId="261"/>
            <ac:spMk id="2" creationId="{6128705A-73DD-62BA-7045-1A0EB26AB6A8}"/>
          </ac:spMkLst>
        </pc:spChg>
        <pc:spChg chg="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4" creationId="{37D82690-C60D-1BCA-111A-FD924426A344}"/>
          </ac:spMkLst>
        </pc:spChg>
        <pc:spChg chg="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5" creationId="{AB91F536-421A-F6B4-EBE3-DC382447A963}"/>
          </ac:spMkLst>
        </pc:spChg>
        <pc:spChg chg="add mod">
          <ac:chgData name="Deepak Loura" userId="2da64f9b-03bf-4a05-8b48-46916d4ab81c" providerId="ADAL" clId="{D0C7B8AB-0472-46BE-9BC8-F83FD286806C}" dt="2025-11-06T14:38:10.323" v="1587" actId="14100"/>
          <ac:spMkLst>
            <pc:docMk/>
            <pc:sldMk cId="1677277842" sldId="261"/>
            <ac:spMk id="6" creationId="{A75E79D3-BD2D-3411-42BB-1BDB2E96B5E8}"/>
          </ac:spMkLst>
        </pc:spChg>
        <pc:spChg chg="del mod">
          <ac:chgData name="Deepak Loura" userId="2da64f9b-03bf-4a05-8b48-46916d4ab81c" providerId="ADAL" clId="{D0C7B8AB-0472-46BE-9BC8-F83FD286806C}" dt="2025-11-07T00:04:29.944" v="2158" actId="21"/>
          <ac:spMkLst>
            <pc:docMk/>
            <pc:sldMk cId="1677277842" sldId="261"/>
            <ac:spMk id="9" creationId="{B8749424-C3F8-C1CE-5CA6-3ABE900C7AC3}"/>
          </ac:spMkLst>
        </pc:spChg>
        <pc:spChg chg="mod">
          <ac:chgData name="Deepak Loura" userId="2da64f9b-03bf-4a05-8b48-46916d4ab81c" providerId="ADAL" clId="{D0C7B8AB-0472-46BE-9BC8-F83FD286806C}" dt="2025-11-06T23:47:31.555" v="2087" actId="1076"/>
          <ac:spMkLst>
            <pc:docMk/>
            <pc:sldMk cId="1677277842" sldId="261"/>
            <ac:spMk id="10" creationId="{55920A2B-0973-B5FF-E7FE-98FF8A4364B1}"/>
          </ac:spMkLst>
        </pc:spChg>
        <pc:spChg chg="add mod">
          <ac:chgData name="Deepak Loura" userId="2da64f9b-03bf-4a05-8b48-46916d4ab81c" providerId="ADAL" clId="{D0C7B8AB-0472-46BE-9BC8-F83FD286806C}" dt="2025-11-06T23:49:18.345" v="2107" actId="255"/>
          <ac:spMkLst>
            <pc:docMk/>
            <pc:sldMk cId="1677277842" sldId="261"/>
            <ac:spMk id="11" creationId="{42BF2DB8-DB22-B265-C89F-0C0A246806C2}"/>
          </ac:spMkLst>
        </pc:spChg>
        <pc:spChg chg="mod">
          <ac:chgData name="Deepak Loura" userId="2da64f9b-03bf-4a05-8b48-46916d4ab81c" providerId="ADAL" clId="{D0C7B8AB-0472-46BE-9BC8-F83FD286806C}" dt="2025-11-06T23:47:26.853" v="2086" actId="1076"/>
          <ac:spMkLst>
            <pc:docMk/>
            <pc:sldMk cId="1677277842" sldId="261"/>
            <ac:spMk id="12" creationId="{A9DB327F-B26C-BC0D-2626-11512A4CC5A4}"/>
          </ac:spMkLst>
        </pc:spChg>
        <pc:spChg chg="mod">
          <ac:chgData name="Deepak Loura" userId="2da64f9b-03bf-4a05-8b48-46916d4ab81c" providerId="ADAL" clId="{D0C7B8AB-0472-46BE-9BC8-F83FD286806C}" dt="2025-11-07T00:02:13.609" v="2135" actId="255"/>
          <ac:spMkLst>
            <pc:docMk/>
            <pc:sldMk cId="1677277842" sldId="261"/>
            <ac:spMk id="13" creationId="{DB537622-DE01-91FF-6E11-A1D16AE08D16}"/>
          </ac:spMkLst>
        </pc:spChg>
        <pc:spChg chg="mod">
          <ac:chgData name="Deepak Loura" userId="2da64f9b-03bf-4a05-8b48-46916d4ab81c" providerId="ADAL" clId="{D0C7B8AB-0472-46BE-9BC8-F83FD286806C}" dt="2025-11-06T23:49:38.952" v="2110" actId="1076"/>
          <ac:spMkLst>
            <pc:docMk/>
            <pc:sldMk cId="1677277842" sldId="261"/>
            <ac:spMk id="14" creationId="{EDEA77B1-1146-7240-BDCF-8E09162FC3AD}"/>
          </ac:spMkLst>
        </pc:spChg>
        <pc:spChg chg="add mod">
          <ac:chgData name="Deepak Loura" userId="2da64f9b-03bf-4a05-8b48-46916d4ab81c" providerId="ADAL" clId="{D0C7B8AB-0472-46BE-9BC8-F83FD286806C}" dt="2025-11-06T14:57:05.598" v="1916" actId="14100"/>
          <ac:spMkLst>
            <pc:docMk/>
            <pc:sldMk cId="1677277842" sldId="261"/>
            <ac:spMk id="16" creationId="{54D85054-D360-6814-6A97-E43990DCF854}"/>
          </ac:spMkLst>
        </pc:spChg>
        <pc:spChg chg="mod">
          <ac:chgData name="Deepak Loura" userId="2da64f9b-03bf-4a05-8b48-46916d4ab81c" providerId="ADAL" clId="{D0C7B8AB-0472-46BE-9BC8-F83FD286806C}" dt="2025-11-06T23:47:02.352" v="2081" actId="14100"/>
          <ac:spMkLst>
            <pc:docMk/>
            <pc:sldMk cId="1677277842" sldId="261"/>
            <ac:spMk id="17" creationId="{9F340225-DB9E-77AD-13D7-25FB94BF092D}"/>
          </ac:spMkLst>
        </pc:spChg>
        <pc:spChg chg="add mod">
          <ac:chgData name="Deepak Loura" userId="2da64f9b-03bf-4a05-8b48-46916d4ab81c" providerId="ADAL" clId="{D0C7B8AB-0472-46BE-9BC8-F83FD286806C}" dt="2025-11-06T23:49:18.345" v="2107" actId="255"/>
          <ac:spMkLst>
            <pc:docMk/>
            <pc:sldMk cId="1677277842" sldId="261"/>
            <ac:spMk id="18" creationId="{33D282A7-EA5F-43E3-1C71-6C443291993C}"/>
          </ac:spMkLst>
        </pc:spChg>
        <pc:spChg chg="add 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19" creationId="{730F6817-CC7B-A148-AE52-95636E5AC88D}"/>
          </ac:spMkLst>
        </pc:spChg>
        <pc:spChg chg="add mod">
          <ac:chgData name="Deepak Loura" userId="2da64f9b-03bf-4a05-8b48-46916d4ab81c" providerId="ADAL" clId="{D0C7B8AB-0472-46BE-9BC8-F83FD286806C}" dt="2025-11-06T23:57:55.991" v="2121" actId="1076"/>
          <ac:spMkLst>
            <pc:docMk/>
            <pc:sldMk cId="1677277842" sldId="261"/>
            <ac:spMk id="22" creationId="{F3B02106-6F9E-E43B-6C78-481BD34C1C05}"/>
          </ac:spMkLst>
        </pc:spChg>
        <pc:spChg chg="add mod">
          <ac:chgData name="Deepak Loura" userId="2da64f9b-03bf-4a05-8b48-46916d4ab81c" providerId="ADAL" clId="{D0C7B8AB-0472-46BE-9BC8-F83FD286806C}" dt="2025-11-07T00:04:14.212" v="2157" actId="14100"/>
          <ac:spMkLst>
            <pc:docMk/>
            <pc:sldMk cId="1677277842" sldId="261"/>
            <ac:spMk id="23" creationId="{3E3A266D-5F75-61F1-43FC-FEF30B7F3531}"/>
          </ac:spMkLst>
        </pc:spChg>
        <pc:spChg chg="add mod">
          <ac:chgData name="Deepak Loura" userId="2da64f9b-03bf-4a05-8b48-46916d4ab81c" providerId="ADAL" clId="{D0C7B8AB-0472-46BE-9BC8-F83FD286806C}" dt="2025-11-07T00:03:15.689" v="2145"/>
          <ac:spMkLst>
            <pc:docMk/>
            <pc:sldMk cId="1677277842" sldId="261"/>
            <ac:spMk id="24" creationId="{4708E78B-D76D-E2E9-2EA5-3E31EDF2D04A}"/>
          </ac:spMkLst>
        </pc:spChg>
        <pc:spChg chg="add mod">
          <ac:chgData name="Deepak Loura" userId="2da64f9b-03bf-4a05-8b48-46916d4ab81c" providerId="ADAL" clId="{D0C7B8AB-0472-46BE-9BC8-F83FD286806C}" dt="2025-11-07T00:02:05.333" v="2134" actId="20577"/>
          <ac:spMkLst>
            <pc:docMk/>
            <pc:sldMk cId="1677277842" sldId="261"/>
            <ac:spMk id="25" creationId="{639E9CAC-0A27-148A-0075-CF5D40B08733}"/>
          </ac:spMkLst>
        </pc:spChg>
        <pc:spChg chg="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26" creationId="{9531A589-D8C1-4BC1-48A7-01B23E411D10}"/>
          </ac:spMkLst>
        </pc:spChg>
        <pc:spChg chg="add 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27" creationId="{D3AF0FC4-A0C6-F4AD-16F7-5C9A0C11B63A}"/>
          </ac:spMkLst>
        </pc:spChg>
        <pc:spChg chg="add mod">
          <ac:chgData name="Deepak Loura" userId="2da64f9b-03bf-4a05-8b48-46916d4ab81c" providerId="ADAL" clId="{D0C7B8AB-0472-46BE-9BC8-F83FD286806C}" dt="2025-11-06T14:46:23.443" v="1729" actId="14100"/>
          <ac:spMkLst>
            <pc:docMk/>
            <pc:sldMk cId="1677277842" sldId="261"/>
            <ac:spMk id="28" creationId="{C6129055-75AA-FD5B-C6CB-D03173812BE7}"/>
          </ac:spMkLst>
        </pc:spChg>
        <pc:spChg chg="add mod">
          <ac:chgData name="Deepak Loura" userId="2da64f9b-03bf-4a05-8b48-46916d4ab81c" providerId="ADAL" clId="{D0C7B8AB-0472-46BE-9BC8-F83FD286806C}" dt="2025-11-08T01:10:21.290" v="2221" actId="20577"/>
          <ac:spMkLst>
            <pc:docMk/>
            <pc:sldMk cId="1677277842" sldId="261"/>
            <ac:spMk id="31" creationId="{062227D3-49E6-340D-B999-B32E60B7D050}"/>
          </ac:spMkLst>
        </pc:spChg>
        <pc:spChg chg="add del mod">
          <ac:chgData name="Deepak Loura" userId="2da64f9b-03bf-4a05-8b48-46916d4ab81c" providerId="ADAL" clId="{D0C7B8AB-0472-46BE-9BC8-F83FD286806C}" dt="2025-11-07T00:04:01.654" v="2154" actId="14100"/>
          <ac:spMkLst>
            <pc:docMk/>
            <pc:sldMk cId="1677277842" sldId="261"/>
            <ac:spMk id="33" creationId="{8B952C3E-F303-F09F-340F-FC0F9D727D2B}"/>
          </ac:spMkLst>
        </pc:spChg>
        <pc:spChg chg="mod">
          <ac:chgData name="Deepak Loura" userId="2da64f9b-03bf-4a05-8b48-46916d4ab81c" providerId="ADAL" clId="{D0C7B8AB-0472-46BE-9BC8-F83FD286806C}" dt="2025-11-08T01:09:41.091" v="2220" actId="20577"/>
          <ac:spMkLst>
            <pc:docMk/>
            <pc:sldMk cId="1677277842" sldId="261"/>
            <ac:spMk id="34" creationId="{BF43EC14-69D4-31DC-0E45-11E82C9721B2}"/>
          </ac:spMkLst>
        </pc:spChg>
        <pc:spChg chg="add del mod">
          <ac:chgData name="Deepak Loura" userId="2da64f9b-03bf-4a05-8b48-46916d4ab81c" providerId="ADAL" clId="{D0C7B8AB-0472-46BE-9BC8-F83FD286806C}" dt="2025-11-06T23:50:03.484" v="2111" actId="14100"/>
          <ac:spMkLst>
            <pc:docMk/>
            <pc:sldMk cId="1677277842" sldId="261"/>
            <ac:spMk id="38" creationId="{BEC24086-96A6-EB48-5E83-365409C32904}"/>
          </ac:spMkLst>
        </pc:spChg>
        <pc:spChg chg="mod">
          <ac:chgData name="Deepak Loura" userId="2da64f9b-03bf-4a05-8b48-46916d4ab81c" providerId="ADAL" clId="{D0C7B8AB-0472-46BE-9BC8-F83FD286806C}" dt="2025-11-06T23:49:22.969" v="2108" actId="255"/>
          <ac:spMkLst>
            <pc:docMk/>
            <pc:sldMk cId="1677277842" sldId="261"/>
            <ac:spMk id="59" creationId="{F8E44DA6-3468-EFB6-9785-7D3DE0B873AF}"/>
          </ac:spMkLst>
        </pc:spChg>
        <pc:spChg chg="add mod">
          <ac:chgData name="Deepak Loura" userId="2da64f9b-03bf-4a05-8b48-46916d4ab81c" providerId="ADAL" clId="{D0C7B8AB-0472-46BE-9BC8-F83FD286806C}" dt="2025-11-06T23:47:52.308" v="2090" actId="1076"/>
          <ac:spMkLst>
            <pc:docMk/>
            <pc:sldMk cId="1677277842" sldId="261"/>
            <ac:spMk id="142" creationId="{B25E029D-1C4D-CE81-46FF-D11DF77C4B95}"/>
          </ac:spMkLst>
        </pc:spChg>
        <pc:picChg chg="add mod">
          <ac:chgData name="Deepak Loura" userId="2da64f9b-03bf-4a05-8b48-46916d4ab81c" providerId="ADAL" clId="{D0C7B8AB-0472-46BE-9BC8-F83FD286806C}" dt="2025-11-08T01:09:28.183" v="2219" actId="208"/>
          <ac:picMkLst>
            <pc:docMk/>
            <pc:sldMk cId="1677277842" sldId="261"/>
            <ac:picMk id="8" creationId="{D6E6E108-CA0F-41E0-51A7-E0A798F2798D}"/>
          </ac:picMkLst>
        </pc:picChg>
        <pc:picChg chg="mod">
          <ac:chgData name="Deepak Loura" userId="2da64f9b-03bf-4a05-8b48-46916d4ab81c" providerId="ADAL" clId="{D0C7B8AB-0472-46BE-9BC8-F83FD286806C}" dt="2025-11-08T01:09:24.572" v="2218" actId="208"/>
          <ac:picMkLst>
            <pc:docMk/>
            <pc:sldMk cId="1677277842" sldId="261"/>
            <ac:picMk id="9" creationId="{661931C7-5A64-25E3-8617-9934C9604A5D}"/>
          </ac:picMkLst>
        </pc:picChg>
        <pc:picChg chg="mod">
          <ac:chgData name="Deepak Loura" userId="2da64f9b-03bf-4a05-8b48-46916d4ab81c" providerId="ADAL" clId="{D0C7B8AB-0472-46BE-9BC8-F83FD286806C}" dt="2025-11-08T01:09:21.295" v="2217" actId="208"/>
          <ac:picMkLst>
            <pc:docMk/>
            <pc:sldMk cId="1677277842" sldId="261"/>
            <ac:picMk id="20" creationId="{61CF1683-22F8-4D81-60FD-9CC1F883A74A}"/>
          </ac:picMkLst>
        </pc:picChg>
        <pc:picChg chg="add mod">
          <ac:chgData name="Deepak Loura" userId="2da64f9b-03bf-4a05-8b48-46916d4ab81c" providerId="ADAL" clId="{D0C7B8AB-0472-46BE-9BC8-F83FD286806C}" dt="2025-11-06T23:48:25.239" v="2099" actId="14100"/>
          <ac:picMkLst>
            <pc:docMk/>
            <pc:sldMk cId="1677277842" sldId="261"/>
            <ac:picMk id="21" creationId="{18029EAC-2016-A126-B8DA-08FC4D2C5314}"/>
          </ac:picMkLst>
        </pc:picChg>
        <pc:picChg chg="add mod">
          <ac:chgData name="Deepak Loura" userId="2da64f9b-03bf-4a05-8b48-46916d4ab81c" providerId="ADAL" clId="{D0C7B8AB-0472-46BE-9BC8-F83FD286806C}" dt="2025-11-06T14:47:17.359" v="1741" actId="14100"/>
          <ac:picMkLst>
            <pc:docMk/>
            <pc:sldMk cId="1677277842" sldId="261"/>
            <ac:picMk id="39" creationId="{E050E035-7079-A777-CF5B-FE1E4AF7D63C}"/>
          </ac:picMkLst>
        </pc:picChg>
        <pc:picChg chg="add mod">
          <ac:chgData name="Deepak Loura" userId="2da64f9b-03bf-4a05-8b48-46916d4ab81c" providerId="ADAL" clId="{D0C7B8AB-0472-46BE-9BC8-F83FD286806C}" dt="2025-11-06T23:47:38.320" v="2088" actId="1076"/>
          <ac:picMkLst>
            <pc:docMk/>
            <pc:sldMk cId="1677277842" sldId="261"/>
            <ac:picMk id="55" creationId="{CF807DFA-A838-F8F4-CE44-F168EC7E22AC}"/>
          </ac:picMkLst>
        </pc:picChg>
        <pc:picChg chg="add mod">
          <ac:chgData name="Deepak Loura" userId="2da64f9b-03bf-4a05-8b48-46916d4ab81c" providerId="ADAL" clId="{D0C7B8AB-0472-46BE-9BC8-F83FD286806C}" dt="2025-11-08T01:07:15.568" v="2164" actId="1076"/>
          <ac:picMkLst>
            <pc:docMk/>
            <pc:sldMk cId="1677277842" sldId="261"/>
            <ac:picMk id="145" creationId="{678CE55F-7736-84CA-EE55-D6E2E0E9A8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1780" y="6285233"/>
            <a:ext cx="31866840" cy="13370560"/>
          </a:xfrm>
        </p:spPr>
        <p:txBody>
          <a:bodyPr anchor="b"/>
          <a:lstStyle>
            <a:lvl1pPr algn="ctr">
              <a:defRPr sz="2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6300" y="20171413"/>
            <a:ext cx="28117800" cy="9272267"/>
          </a:xfrm>
        </p:spPr>
        <p:txBody>
          <a:bodyPr/>
          <a:lstStyle>
            <a:lvl1pPr marL="0" indent="0" algn="ctr">
              <a:buNone/>
              <a:defRPr sz="9840"/>
            </a:lvl1pPr>
            <a:lvl2pPr marL="1874520" indent="0" algn="ctr">
              <a:buNone/>
              <a:defRPr sz="8200"/>
            </a:lvl2pPr>
            <a:lvl3pPr marL="3749040" indent="0" algn="ctr">
              <a:buNone/>
              <a:defRPr sz="7380"/>
            </a:lvl3pPr>
            <a:lvl4pPr marL="5623560" indent="0" algn="ctr">
              <a:buNone/>
              <a:defRPr sz="6560"/>
            </a:lvl4pPr>
            <a:lvl5pPr marL="7498080" indent="0" algn="ctr">
              <a:buNone/>
              <a:defRPr sz="6560"/>
            </a:lvl5pPr>
            <a:lvl6pPr marL="9372600" indent="0" algn="ctr">
              <a:buNone/>
              <a:defRPr sz="6560"/>
            </a:lvl6pPr>
            <a:lvl7pPr marL="11247120" indent="0" algn="ctr">
              <a:buNone/>
              <a:defRPr sz="6560"/>
            </a:lvl7pPr>
            <a:lvl8pPr marL="13121640" indent="0" algn="ctr">
              <a:buNone/>
              <a:defRPr sz="6560"/>
            </a:lvl8pPr>
            <a:lvl9pPr marL="14996160" indent="0" algn="ctr">
              <a:buNone/>
              <a:defRPr sz="6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0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4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941" y="9574541"/>
            <a:ext cx="32335470" cy="15975327"/>
          </a:xfrm>
        </p:spPr>
        <p:txBody>
          <a:bodyPr anchor="b"/>
          <a:lstStyle>
            <a:lvl1pPr>
              <a:defRPr sz="2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7941" y="25701001"/>
            <a:ext cx="32335470" cy="8401047"/>
          </a:xfrm>
        </p:spPr>
        <p:txBody>
          <a:bodyPr/>
          <a:lstStyle>
            <a:lvl1pPr marL="0" indent="0">
              <a:buNone/>
              <a:defRPr sz="9840">
                <a:solidFill>
                  <a:schemeClr val="tx1"/>
                </a:solidFill>
              </a:defRPr>
            </a:lvl1pPr>
            <a:lvl2pPr marL="187452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49040" indent="0">
              <a:buNone/>
              <a:defRPr sz="7380">
                <a:solidFill>
                  <a:schemeClr val="tx1">
                    <a:tint val="75000"/>
                  </a:schemeClr>
                </a:solidFill>
              </a:defRPr>
            </a:lvl3pPr>
            <a:lvl4pPr marL="562356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4pPr>
            <a:lvl5pPr marL="749808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5pPr>
            <a:lvl6pPr marL="937260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6pPr>
            <a:lvl7pPr marL="1124712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7pPr>
            <a:lvl8pPr marL="1312164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8pPr>
            <a:lvl9pPr marL="14996160" indent="0">
              <a:buNone/>
              <a:defRPr sz="6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6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7465" y="10223500"/>
            <a:ext cx="159334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79515" y="10223500"/>
            <a:ext cx="159334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6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348" y="2044708"/>
            <a:ext cx="3233547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2352" y="9414513"/>
            <a:ext cx="15860194" cy="4613907"/>
          </a:xfrm>
        </p:spPr>
        <p:txBody>
          <a:bodyPr anchor="b"/>
          <a:lstStyle>
            <a:lvl1pPr marL="0" indent="0">
              <a:buNone/>
              <a:defRPr sz="9840" b="1"/>
            </a:lvl1pPr>
            <a:lvl2pPr marL="1874520" indent="0">
              <a:buNone/>
              <a:defRPr sz="8200" b="1"/>
            </a:lvl2pPr>
            <a:lvl3pPr marL="3749040" indent="0">
              <a:buNone/>
              <a:defRPr sz="7380" b="1"/>
            </a:lvl3pPr>
            <a:lvl4pPr marL="5623560" indent="0">
              <a:buNone/>
              <a:defRPr sz="6560" b="1"/>
            </a:lvl4pPr>
            <a:lvl5pPr marL="7498080" indent="0">
              <a:buNone/>
              <a:defRPr sz="6560" b="1"/>
            </a:lvl5pPr>
            <a:lvl6pPr marL="9372600" indent="0">
              <a:buNone/>
              <a:defRPr sz="6560" b="1"/>
            </a:lvl6pPr>
            <a:lvl7pPr marL="11247120" indent="0">
              <a:buNone/>
              <a:defRPr sz="6560" b="1"/>
            </a:lvl7pPr>
            <a:lvl8pPr marL="13121640" indent="0">
              <a:buNone/>
              <a:defRPr sz="6560" b="1"/>
            </a:lvl8pPr>
            <a:lvl9pPr marL="14996160" indent="0">
              <a:buNone/>
              <a:defRPr sz="6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2352" y="14028420"/>
            <a:ext cx="15860194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979517" y="9414513"/>
            <a:ext cx="15938303" cy="4613907"/>
          </a:xfrm>
        </p:spPr>
        <p:txBody>
          <a:bodyPr anchor="b"/>
          <a:lstStyle>
            <a:lvl1pPr marL="0" indent="0">
              <a:buNone/>
              <a:defRPr sz="9840" b="1"/>
            </a:lvl1pPr>
            <a:lvl2pPr marL="1874520" indent="0">
              <a:buNone/>
              <a:defRPr sz="8200" b="1"/>
            </a:lvl2pPr>
            <a:lvl3pPr marL="3749040" indent="0">
              <a:buNone/>
              <a:defRPr sz="7380" b="1"/>
            </a:lvl3pPr>
            <a:lvl4pPr marL="5623560" indent="0">
              <a:buNone/>
              <a:defRPr sz="6560" b="1"/>
            </a:lvl4pPr>
            <a:lvl5pPr marL="7498080" indent="0">
              <a:buNone/>
              <a:defRPr sz="6560" b="1"/>
            </a:lvl5pPr>
            <a:lvl6pPr marL="9372600" indent="0">
              <a:buNone/>
              <a:defRPr sz="6560" b="1"/>
            </a:lvl6pPr>
            <a:lvl7pPr marL="11247120" indent="0">
              <a:buNone/>
              <a:defRPr sz="6560" b="1"/>
            </a:lvl7pPr>
            <a:lvl8pPr marL="13121640" indent="0">
              <a:buNone/>
              <a:defRPr sz="6560" b="1"/>
            </a:lvl8pPr>
            <a:lvl9pPr marL="14996160" indent="0">
              <a:buNone/>
              <a:defRPr sz="6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979517" y="14028420"/>
            <a:ext cx="15938303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9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4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8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348" y="2560320"/>
            <a:ext cx="12091630" cy="8961120"/>
          </a:xfrm>
        </p:spPr>
        <p:txBody>
          <a:bodyPr anchor="b"/>
          <a:lstStyle>
            <a:lvl1pPr>
              <a:defRPr sz="13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8303" y="5529588"/>
            <a:ext cx="18979515" cy="27292300"/>
          </a:xfrm>
        </p:spPr>
        <p:txBody>
          <a:bodyPr/>
          <a:lstStyle>
            <a:lvl1pPr>
              <a:defRPr sz="13120"/>
            </a:lvl1pPr>
            <a:lvl2pPr>
              <a:defRPr sz="11480"/>
            </a:lvl2pPr>
            <a:lvl3pPr>
              <a:defRPr sz="984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2348" y="11521440"/>
            <a:ext cx="12091630" cy="21344893"/>
          </a:xfrm>
        </p:spPr>
        <p:txBody>
          <a:bodyPr/>
          <a:lstStyle>
            <a:lvl1pPr marL="0" indent="0">
              <a:buNone/>
              <a:defRPr sz="6560"/>
            </a:lvl1pPr>
            <a:lvl2pPr marL="1874520" indent="0">
              <a:buNone/>
              <a:defRPr sz="5740"/>
            </a:lvl2pPr>
            <a:lvl3pPr marL="3749040" indent="0">
              <a:buNone/>
              <a:defRPr sz="4920"/>
            </a:lvl3pPr>
            <a:lvl4pPr marL="5623560" indent="0">
              <a:buNone/>
              <a:defRPr sz="4100"/>
            </a:lvl4pPr>
            <a:lvl5pPr marL="7498080" indent="0">
              <a:buNone/>
              <a:defRPr sz="4100"/>
            </a:lvl5pPr>
            <a:lvl6pPr marL="9372600" indent="0">
              <a:buNone/>
              <a:defRPr sz="4100"/>
            </a:lvl6pPr>
            <a:lvl7pPr marL="11247120" indent="0">
              <a:buNone/>
              <a:defRPr sz="4100"/>
            </a:lvl7pPr>
            <a:lvl8pPr marL="13121640" indent="0">
              <a:buNone/>
              <a:defRPr sz="4100"/>
            </a:lvl8pPr>
            <a:lvl9pPr marL="14996160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0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348" y="2560320"/>
            <a:ext cx="12091630" cy="8961120"/>
          </a:xfrm>
        </p:spPr>
        <p:txBody>
          <a:bodyPr anchor="b"/>
          <a:lstStyle>
            <a:lvl1pPr>
              <a:defRPr sz="13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938303" y="5529588"/>
            <a:ext cx="18979515" cy="27292300"/>
          </a:xfrm>
        </p:spPr>
        <p:txBody>
          <a:bodyPr anchor="t"/>
          <a:lstStyle>
            <a:lvl1pPr marL="0" indent="0">
              <a:buNone/>
              <a:defRPr sz="13120"/>
            </a:lvl1pPr>
            <a:lvl2pPr marL="1874520" indent="0">
              <a:buNone/>
              <a:defRPr sz="11480"/>
            </a:lvl2pPr>
            <a:lvl3pPr marL="3749040" indent="0">
              <a:buNone/>
              <a:defRPr sz="9840"/>
            </a:lvl3pPr>
            <a:lvl4pPr marL="5623560" indent="0">
              <a:buNone/>
              <a:defRPr sz="8200"/>
            </a:lvl4pPr>
            <a:lvl5pPr marL="7498080" indent="0">
              <a:buNone/>
              <a:defRPr sz="8200"/>
            </a:lvl5pPr>
            <a:lvl6pPr marL="9372600" indent="0">
              <a:buNone/>
              <a:defRPr sz="8200"/>
            </a:lvl6pPr>
            <a:lvl7pPr marL="11247120" indent="0">
              <a:buNone/>
              <a:defRPr sz="8200"/>
            </a:lvl7pPr>
            <a:lvl8pPr marL="13121640" indent="0">
              <a:buNone/>
              <a:defRPr sz="8200"/>
            </a:lvl8pPr>
            <a:lvl9pPr marL="14996160" indent="0">
              <a:buNone/>
              <a:defRPr sz="8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2348" y="11521440"/>
            <a:ext cx="12091630" cy="21344893"/>
          </a:xfrm>
        </p:spPr>
        <p:txBody>
          <a:bodyPr/>
          <a:lstStyle>
            <a:lvl1pPr marL="0" indent="0">
              <a:buNone/>
              <a:defRPr sz="6560"/>
            </a:lvl1pPr>
            <a:lvl2pPr marL="1874520" indent="0">
              <a:buNone/>
              <a:defRPr sz="5740"/>
            </a:lvl2pPr>
            <a:lvl3pPr marL="3749040" indent="0">
              <a:buNone/>
              <a:defRPr sz="4920"/>
            </a:lvl3pPr>
            <a:lvl4pPr marL="5623560" indent="0">
              <a:buNone/>
              <a:defRPr sz="4100"/>
            </a:lvl4pPr>
            <a:lvl5pPr marL="7498080" indent="0">
              <a:buNone/>
              <a:defRPr sz="4100"/>
            </a:lvl5pPr>
            <a:lvl6pPr marL="9372600" indent="0">
              <a:buNone/>
              <a:defRPr sz="4100"/>
            </a:lvl6pPr>
            <a:lvl7pPr marL="11247120" indent="0">
              <a:buNone/>
              <a:defRPr sz="4100"/>
            </a:lvl7pPr>
            <a:lvl8pPr marL="13121640" indent="0">
              <a:buNone/>
              <a:defRPr sz="4100"/>
            </a:lvl8pPr>
            <a:lvl9pPr marL="14996160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5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829069" y="2044700"/>
            <a:ext cx="8083868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7467" y="2044700"/>
            <a:ext cx="23782973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5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7465" y="2044708"/>
            <a:ext cx="3233547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7465" y="10223500"/>
            <a:ext cx="3233547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7465" y="35595568"/>
            <a:ext cx="84353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172BE-5DE3-4B20-9F32-FD8912D2B3B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18695" y="35595568"/>
            <a:ext cx="1265301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477595" y="35595568"/>
            <a:ext cx="84353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96358-2332-4B0E-AB74-78646CC8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6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749040" rtl="0" eaLnBrk="1" latinLnBrk="0" hangingPunct="1">
        <a:lnSpc>
          <a:spcPct val="90000"/>
        </a:lnSpc>
        <a:spcBef>
          <a:spcPct val="0"/>
        </a:spcBef>
        <a:buNone/>
        <a:defRPr sz="18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7260" indent="-937260" algn="l" defTabSz="3749040" rtl="0" eaLnBrk="1" latinLnBrk="0" hangingPunct="1">
        <a:lnSpc>
          <a:spcPct val="90000"/>
        </a:lnSpc>
        <a:spcBef>
          <a:spcPts val="4100"/>
        </a:spcBef>
        <a:buFont typeface="Arial" panose="020B0604020202020204" pitchFamily="34" charset="0"/>
        <a:buChar char="•"/>
        <a:defRPr sz="11480" kern="1200">
          <a:solidFill>
            <a:schemeClr val="tx1"/>
          </a:solidFill>
          <a:latin typeface="+mn-lt"/>
          <a:ea typeface="+mn-ea"/>
          <a:cs typeface="+mn-cs"/>
        </a:defRPr>
      </a:lvl1pPr>
      <a:lvl2pPr marL="281178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9840" kern="1200">
          <a:solidFill>
            <a:schemeClr val="tx1"/>
          </a:solidFill>
          <a:latin typeface="+mn-lt"/>
          <a:ea typeface="+mn-ea"/>
          <a:cs typeface="+mn-cs"/>
        </a:defRPr>
      </a:lvl2pPr>
      <a:lvl3pPr marL="468630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6082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4pPr>
      <a:lvl5pPr marL="843534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5pPr>
      <a:lvl6pPr marL="1030986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6pPr>
      <a:lvl7pPr marL="1218438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7pPr>
      <a:lvl8pPr marL="1405890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8pPr>
      <a:lvl9pPr marL="15933420" indent="-937260" algn="l" defTabSz="374904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7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1pPr>
      <a:lvl2pPr marL="187452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2pPr>
      <a:lvl3pPr marL="374904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3pPr>
      <a:lvl4pPr marL="562356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4pPr>
      <a:lvl5pPr marL="749808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5pPr>
      <a:lvl6pPr marL="937260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6pPr>
      <a:lvl7pPr marL="1124712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7pPr>
      <a:lvl8pPr marL="1312164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8pPr>
      <a:lvl9pPr marL="14996160" algn="l" defTabSz="3749040" rtl="0" eaLnBrk="1" latinLnBrk="0" hangingPunct="1">
        <a:defRPr sz="7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muthu@tamu.edu" TargetMode="External"/><Relationship Id="rId4" Type="http://schemas.openxmlformats.org/officeDocument/2006/relationships/hyperlink" Target="mailto:deepak.loura@agnet.tam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A7F96-EED8-55E2-93DE-35F60F7A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logo with a plant in a circle&#10;&#10;AI-generated content may be incorrect.">
            <a:extLst>
              <a:ext uri="{FF2B5EF4-FFF2-40B4-BE49-F238E27FC236}">
                <a16:creationId xmlns:a16="http://schemas.microsoft.com/office/drawing/2014/main" id="{8D30A0B4-C7D1-4333-2F33-2B4CC12FB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141" y="10695368"/>
            <a:ext cx="15388551" cy="153885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D82690-C60D-1BCA-111A-FD924426A344}"/>
              </a:ext>
            </a:extLst>
          </p:cNvPr>
          <p:cNvSpPr txBox="1"/>
          <p:nvPr/>
        </p:nvSpPr>
        <p:spPr>
          <a:xfrm>
            <a:off x="4615552" y="154813"/>
            <a:ext cx="280735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>
                    <a:lumMod val="50000"/>
                  </a:schemeClr>
                </a:solidFill>
              </a:rPr>
              <a:t>A Multi-state Precision Regenerative Cotton Research Network           Across the U.S. Cotton Belt</a:t>
            </a:r>
            <a:endParaRPr lang="en-US" sz="7200" b="1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31A589-D8C1-4BC1-48A7-01B23E411D10}"/>
              </a:ext>
            </a:extLst>
          </p:cNvPr>
          <p:cNvSpPr txBox="1"/>
          <p:nvPr/>
        </p:nvSpPr>
        <p:spPr>
          <a:xfrm>
            <a:off x="954678" y="5027807"/>
            <a:ext cx="18153944" cy="78953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572" b="1" dirty="0">
                <a:solidFill>
                  <a:schemeClr val="bg1"/>
                </a:solidFill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E44DA6-3468-EFB6-9785-7D3DE0B873AF}"/>
              </a:ext>
            </a:extLst>
          </p:cNvPr>
          <p:cNvSpPr txBox="1"/>
          <p:nvPr/>
        </p:nvSpPr>
        <p:spPr>
          <a:xfrm>
            <a:off x="1009688" y="14249969"/>
            <a:ext cx="18153944" cy="7959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4572" b="1" dirty="0">
                <a:solidFill>
                  <a:schemeClr val="bg1"/>
                </a:solidFill>
                <a:cs typeface="Arial" panose="020B0604020202020204" pitchFamily="34" charset="0"/>
              </a:rPr>
              <a:t>Project 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A77B1-1146-7240-BDCF-8E09162FC3AD}"/>
              </a:ext>
            </a:extLst>
          </p:cNvPr>
          <p:cNvSpPr txBox="1"/>
          <p:nvPr/>
        </p:nvSpPr>
        <p:spPr>
          <a:xfrm>
            <a:off x="3946613" y="3408256"/>
            <a:ext cx="29365499" cy="118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143"/>
              </a:spcBef>
            </a:pPr>
            <a:endParaRPr lang="en-US" sz="3600" baseline="300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algn="ctr">
              <a:spcBef>
                <a:spcPts val="1143"/>
              </a:spcBef>
            </a:pPr>
            <a:r>
              <a:rPr lang="en-US" sz="3600" i="1" dirty="0"/>
              <a:t>¹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Department of Soil and Crop Sciences, Texas A&amp;M University, College Station, TX; *Contact: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  <a:hlinkClick r:id="rId4"/>
              </a:rPr>
              <a:t>deepak.loura@agnet.tamu.edu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;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  <a:hlinkClick r:id="rId5"/>
              </a:rPr>
              <a:t>muthu@tamu.edu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</a:t>
            </a:r>
            <a:endParaRPr lang="en-US" sz="3600" dirty="0">
              <a:cs typeface="Arial" panose="020B0604020202020204" pitchFamily="34" charset="0"/>
            </a:endParaRPr>
          </a:p>
        </p:txBody>
      </p:sp>
      <p:pic>
        <p:nvPicPr>
          <p:cNvPr id="81" name="Picture 4" descr="Texas A&amp;M AgriLife Awards">
            <a:extLst>
              <a:ext uri="{FF2B5EF4-FFF2-40B4-BE49-F238E27FC236}">
                <a16:creationId xmlns:a16="http://schemas.microsoft.com/office/drawing/2014/main" id="{54BCC946-0DA8-B01C-01DB-3A919384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965858" y="830573"/>
            <a:ext cx="3309251" cy="326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EC24086-96A6-EB48-5E83-365409C32904}"/>
              </a:ext>
            </a:extLst>
          </p:cNvPr>
          <p:cNvSpPr txBox="1"/>
          <p:nvPr/>
        </p:nvSpPr>
        <p:spPr>
          <a:xfrm>
            <a:off x="20872993" y="17328399"/>
            <a:ext cx="15662732" cy="7959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4572" b="1" dirty="0">
                <a:solidFill>
                  <a:schemeClr val="bg1"/>
                </a:solidFill>
                <a:cs typeface="Arial" panose="020B0604020202020204" pitchFamily="34" charset="0"/>
              </a:rPr>
              <a:t>Research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1F536-421A-F6B4-EBE3-DC382447A963}"/>
              </a:ext>
            </a:extLst>
          </p:cNvPr>
          <p:cNvSpPr txBox="1"/>
          <p:nvPr/>
        </p:nvSpPr>
        <p:spPr>
          <a:xfrm>
            <a:off x="4801327" y="2628239"/>
            <a:ext cx="27887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solidFill>
                  <a:srgbClr val="C00000"/>
                </a:solidFill>
              </a:rPr>
              <a:t>Deepak Loura¹*, and the  Project Team</a:t>
            </a:r>
          </a:p>
          <a:p>
            <a:pPr algn="ctr"/>
            <a:r>
              <a:rPr lang="en-US" sz="3600" i="1" dirty="0">
                <a:solidFill>
                  <a:srgbClr val="C00000"/>
                </a:solidFill>
              </a:rPr>
              <a:t>*Project Manager</a:t>
            </a:r>
            <a:endParaRPr lang="en-US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20A2B-0973-B5FF-E7FE-98FF8A4364B1}"/>
              </a:ext>
            </a:extLst>
          </p:cNvPr>
          <p:cNvSpPr txBox="1"/>
          <p:nvPr/>
        </p:nvSpPr>
        <p:spPr>
          <a:xfrm>
            <a:off x="20872992" y="5040194"/>
            <a:ext cx="15662729" cy="79592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572" b="1" dirty="0">
                <a:solidFill>
                  <a:schemeClr val="bg1"/>
                </a:solidFill>
                <a:cs typeface="Arial" panose="020B0604020202020204" pitchFamily="34" charset="0"/>
              </a:rPr>
              <a:t>Multi-State Partnership</a:t>
            </a:r>
          </a:p>
        </p:txBody>
      </p:sp>
      <p:pic>
        <p:nvPicPr>
          <p:cNvPr id="39" name="Picture 38" descr="A close-up of logos&#10;&#10;AI-generated content may be incorrect.">
            <a:extLst>
              <a:ext uri="{FF2B5EF4-FFF2-40B4-BE49-F238E27FC236}">
                <a16:creationId xmlns:a16="http://schemas.microsoft.com/office/drawing/2014/main" id="{E050E035-7079-A777-CF5B-FE1E4AF7D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77" y="901439"/>
            <a:ext cx="4290335" cy="2506817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25E029D-1C4D-CE81-46FF-D11DF77C4B95}"/>
              </a:ext>
            </a:extLst>
          </p:cNvPr>
          <p:cNvSpPr txBox="1"/>
          <p:nvPr/>
        </p:nvSpPr>
        <p:spPr>
          <a:xfrm>
            <a:off x="1045212" y="22737401"/>
            <a:ext cx="18082895" cy="79560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4570" b="1" dirty="0">
                <a:solidFill>
                  <a:schemeClr val="bg1"/>
                </a:solidFill>
              </a:rPr>
              <a:t>Project Team</a:t>
            </a:r>
            <a:endParaRPr lang="en-US" sz="457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8705A-73DD-62BA-7045-1A0EB26AB6A8}"/>
              </a:ext>
            </a:extLst>
          </p:cNvPr>
          <p:cNvSpPr txBox="1"/>
          <p:nvPr/>
        </p:nvSpPr>
        <p:spPr>
          <a:xfrm>
            <a:off x="20970577" y="18302143"/>
            <a:ext cx="15565147" cy="8800728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txBody>
          <a:bodyPr wrap="square" rtlCol="0" anchor="t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Established a multi-state precision regenerative cotton research network (&gt;30 experimental sites) across the U.S. Cotton Belt.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Initiated baseline soil carbon and soil health assessments across the different ecoregions.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Launched field trials on novel cover crop systems, living mulches, and conservation practices.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Advancing research on the development and implementation of AI/ML technologies for cotton production.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Reached 3,000+ stakeholders through 25+ outreach and training events.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Student training: &gt;20 graduate and 70 undergraduate students involved.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E79D3-BD2D-3411-42BB-1BDB2E96B5E8}"/>
              </a:ext>
            </a:extLst>
          </p:cNvPr>
          <p:cNvSpPr txBox="1"/>
          <p:nvPr/>
        </p:nvSpPr>
        <p:spPr>
          <a:xfrm>
            <a:off x="1074646" y="14763866"/>
            <a:ext cx="18489704" cy="8030685"/>
          </a:xfrm>
          <a:prstGeom prst="rect">
            <a:avLst/>
          </a:prstGeom>
          <a:noFill/>
          <a:ln w="76200">
            <a:noFill/>
          </a:ln>
        </p:spPr>
        <p:txBody>
          <a:bodyPr wrap="square" rtlCol="0" anchor="ctr">
            <a:no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200" dirty="0"/>
              <a:t>Develop and evaluate regionally suitable regenerative cotton production practices to enhance soil health and sustainability.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200" dirty="0"/>
              <a:t>Establish soil organic carbon and carbon intensity baselines across the U.S. Cotton Belt ecoregions.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200" dirty="0"/>
              <a:t>Integrate precision, AI/ML, and smart technologies for resource-efficient cotton management.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200" dirty="0"/>
              <a:t>Assess economic feasibility and new market opportunities for cotton.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200" dirty="0"/>
              <a:t>Understand farmers’ perceptions and adoption barriers to regenerative practices.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200" dirty="0"/>
              <a:t>Strengthen education, training, and outreach to build a skilled workforce supporting the U.S. cotton industry.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85054-D360-6814-6A97-E43990DCF854}"/>
              </a:ext>
            </a:extLst>
          </p:cNvPr>
          <p:cNvSpPr txBox="1"/>
          <p:nvPr/>
        </p:nvSpPr>
        <p:spPr>
          <a:xfrm>
            <a:off x="20872992" y="26289847"/>
            <a:ext cx="15662732" cy="830997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cs typeface="Arial" panose="020B0604020202020204" pitchFamily="34" charset="0"/>
              </a:rPr>
              <a:t>Ongoing Activities…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282A7-EA5F-43E3-1C71-6C443291993C}"/>
              </a:ext>
            </a:extLst>
          </p:cNvPr>
          <p:cNvSpPr txBox="1"/>
          <p:nvPr/>
        </p:nvSpPr>
        <p:spPr>
          <a:xfrm>
            <a:off x="20970577" y="27434375"/>
            <a:ext cx="15565144" cy="76562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txBody>
          <a:bodyPr wrap="square" rtlCol="0" anchor="t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Expand soil sampling across all participating states to strengthen baseline data.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Continue multi-season, multi-site field trials on regenerative cotton management practices.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Accelerate AI/ML technology development using multi-modal data collection and advanced analytics.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Conduct economic and market analyses to assess grower benefits associated with precision regenerative production practices.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Launch on-farm demonstrations and outreach events to enhance producer engagement.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200" dirty="0"/>
              <a:t>Develop training modules and summer research programs for undergraduate and graduate students.</a:t>
            </a:r>
            <a:endParaRPr lang="en-US" sz="42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0F6817-CC7B-A148-AE52-95636E5AC88D}"/>
              </a:ext>
            </a:extLst>
          </p:cNvPr>
          <p:cNvSpPr txBox="1"/>
          <p:nvPr/>
        </p:nvSpPr>
        <p:spPr>
          <a:xfrm>
            <a:off x="20872992" y="35509268"/>
            <a:ext cx="15662732" cy="830997"/>
          </a:xfrm>
          <a:prstGeom prst="rect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2227D3-49E6-340D-B999-B32E60B7D050}"/>
              </a:ext>
            </a:extLst>
          </p:cNvPr>
          <p:cNvSpPr txBox="1"/>
          <p:nvPr/>
        </p:nvSpPr>
        <p:spPr>
          <a:xfrm>
            <a:off x="22043632" y="36503646"/>
            <a:ext cx="11537897" cy="1469040"/>
          </a:xfrm>
          <a:prstGeom prst="rect">
            <a:avLst/>
          </a:prstGeom>
          <a:noFill/>
          <a:ln w="76200">
            <a:noFill/>
          </a:ln>
        </p:spPr>
        <p:txBody>
          <a:bodyPr wrap="square" rtlCol="0" anchor="ctr">
            <a:noAutofit/>
          </a:bodyPr>
          <a:lstStyle/>
          <a:p>
            <a:pPr lvl="0"/>
            <a:r>
              <a:rPr lang="en-US" sz="3800" dirty="0"/>
              <a:t>USDA-NIFA Sustainable Agricultural Systems Project</a:t>
            </a:r>
          </a:p>
          <a:p>
            <a:pPr lvl="0"/>
            <a:r>
              <a:rPr lang="en-US" sz="3800" dirty="0"/>
              <a:t>Award Number: 2024-68012-41750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F2DB8-DB22-B265-C89F-0C0A246806C2}"/>
              </a:ext>
            </a:extLst>
          </p:cNvPr>
          <p:cNvSpPr txBox="1"/>
          <p:nvPr/>
        </p:nvSpPr>
        <p:spPr>
          <a:xfrm>
            <a:off x="954678" y="6201761"/>
            <a:ext cx="18082894" cy="7686525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txBody>
          <a:bodyPr wrap="square" rtlCol="0" anchor="t">
            <a:noAutofit/>
          </a:bodyPr>
          <a:lstStyle/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Cotton is a major crop in the U.S., valued at $7 billion annually and covering ~12.5 million acres.</a:t>
            </a:r>
          </a:p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Sustainability is challenged by intensive tillage, soil degradation, and pesticide resistance across the Cotton Belt.</a:t>
            </a:r>
          </a:p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Adoption of conservation tillage, cover crops, living mulches, and other regenerative practices can enhance soil health and carbon sequestration.</a:t>
            </a:r>
          </a:p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Integrating AI/ML-based precision practices can reduce input use, lower GHG emissions, and move U.S. cotton towards a sustainable future.</a:t>
            </a:r>
          </a:p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r>
              <a:rPr lang="en-US" sz="4200" dirty="0">
                <a:cs typeface="Arial" panose="020B0604020202020204" pitchFamily="34" charset="0"/>
              </a:rPr>
              <a:t>A USDA-NIFA Sustainable Agriculture Systems-Coordinated Agriculture Project (SAS-CAP) addresses these challenges in different ecoregions across the U.S. Cotton Belt, with multi-state and multi-institutional partnerships (</a:t>
            </a:r>
            <a:r>
              <a:rPr lang="en-US" sz="4200" b="1" dirty="0">
                <a:cs typeface="Arial" panose="020B0604020202020204" pitchFamily="34" charset="0"/>
              </a:rPr>
              <a:t>Fig. 1</a:t>
            </a:r>
            <a:r>
              <a:rPr lang="en-US" sz="4200" dirty="0">
                <a:cs typeface="Arial" panose="020B0604020202020204" pitchFamily="34" charset="0"/>
              </a:rPr>
              <a:t>).</a:t>
            </a:r>
          </a:p>
          <a:p>
            <a:pPr marL="544297" indent="-544297">
              <a:spcAft>
                <a:spcPts val="833"/>
              </a:spcAft>
              <a:buFont typeface="Arial" panose="020B0604020202020204" pitchFamily="34" charset="0"/>
              <a:buChar char="•"/>
            </a:pPr>
            <a:endParaRPr lang="en-US" sz="4200" dirty="0"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BA999F-C8CE-0039-1823-AD5E53B1049D}"/>
              </a:ext>
            </a:extLst>
          </p:cNvPr>
          <p:cNvSpPr txBox="1"/>
          <p:nvPr/>
        </p:nvSpPr>
        <p:spPr>
          <a:xfrm>
            <a:off x="13357390" y="33786509"/>
            <a:ext cx="811183" cy="58477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33BD2F-2D48-73EC-E887-C3F3405F5005}"/>
              </a:ext>
            </a:extLst>
          </p:cNvPr>
          <p:cNvSpPr txBox="1"/>
          <p:nvPr/>
        </p:nvSpPr>
        <p:spPr>
          <a:xfrm>
            <a:off x="19280754" y="33786508"/>
            <a:ext cx="1819951" cy="58477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A2F75-8EFE-AC07-963D-97E3F7D7F4DA}"/>
              </a:ext>
            </a:extLst>
          </p:cNvPr>
          <p:cNvSpPr txBox="1"/>
          <p:nvPr/>
        </p:nvSpPr>
        <p:spPr>
          <a:xfrm>
            <a:off x="1162334" y="23698105"/>
            <a:ext cx="18118420" cy="14485976"/>
          </a:xfrm>
          <a:prstGeom prst="rect">
            <a:avLst/>
          </a:prstGeom>
          <a:noFill/>
          <a:ln w="76200">
            <a:noFill/>
          </a:ln>
        </p:spPr>
        <p:txBody>
          <a:bodyPr wrap="square" rtlCol="0" anchor="ctr">
            <a:noAutofit/>
          </a:bodyPr>
          <a:lstStyle/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University of Arizona: Dr. </a:t>
            </a:r>
            <a:r>
              <a:rPr lang="en-US" sz="3800" dirty="0" err="1"/>
              <a:t>Debankur</a:t>
            </a:r>
            <a:r>
              <a:rPr lang="en-US" sz="3800" dirty="0"/>
              <a:t> Sanyal, Dr. Randy Norton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New Mexico State University: Dr. Sangu Angadi, Dr. Rajan Ghimire, Dr. Prakriti Bista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Texas A&amp;M University: Dr. Katie Lewis, Dr. Joseph Burke, Dr. Peter </a:t>
            </a:r>
            <a:r>
              <a:rPr lang="en-US" sz="3800" dirty="0" err="1"/>
              <a:t>Dotray</a:t>
            </a:r>
            <a:r>
              <a:rPr lang="en-US" sz="3800" dirty="0"/>
              <a:t>, Dr. Benjamin McKnight, Dr. David Kerns, Dr. Thomas </a:t>
            </a:r>
            <a:r>
              <a:rPr lang="en-US" sz="3800" dirty="0" err="1"/>
              <a:t>Isakeit</a:t>
            </a:r>
            <a:r>
              <a:rPr lang="en-US" sz="3800" dirty="0"/>
              <a:t>, Dr. Scott Nolte, Dr. Mahendra Bhandari, Dr. Uday </a:t>
            </a:r>
            <a:r>
              <a:rPr lang="en-US" sz="3800" dirty="0" err="1"/>
              <a:t>Vaddevolu</a:t>
            </a:r>
            <a:r>
              <a:rPr lang="en-US" sz="3800" dirty="0"/>
              <a:t>, Dr. Nithya Subramanian, Dr. Jake Mowrer, Dr. Sanjay Antony Babu, Dr. Nithya Rajan, Dr. Muthukumar Bagavathiannan*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Texas Tech University: Dr. Darren Hudson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USDA-ARS, College Station: Dr. Daniel Martin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Prairie View A&amp;M University: Dr. Ram Ray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Mississippi State University: Dr. Drew Gholson, Dr. Prakash Jha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University of Tennessee: Dr. Tyson Raper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 err="1"/>
              <a:t>AgriCenter</a:t>
            </a:r>
            <a:r>
              <a:rPr lang="en-US" sz="3800" dirty="0"/>
              <a:t> International, Memphis: Andy Jordan, Ashley Barth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Auburn University: Dr. Alvaro Sanz-Saez, Dr. Aniruddha Maity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University of Georgia: Dr. Nicholas Basinger, Dr. Jennifer Thomson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North Carolina State University: Dr. Ramon Leon, Dr. Charlie Cahoon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 err="1"/>
              <a:t>GaiaDhi</a:t>
            </a:r>
            <a:r>
              <a:rPr lang="en-US" sz="3800" dirty="0"/>
              <a:t> Earth Intelligence, Inc: Karthik Kannappan, Vasu Vijay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The Farm Journal/Trust In Food: Lauren Dowler, Candace </a:t>
            </a:r>
            <a:r>
              <a:rPr lang="en-US" sz="3800" dirty="0" err="1"/>
              <a:t>Bergesch</a:t>
            </a:r>
            <a:r>
              <a:rPr lang="en-US" sz="3800" dirty="0"/>
              <a:t>, Kaeli </a:t>
            </a:r>
            <a:r>
              <a:rPr lang="en-US" sz="3800" dirty="0" err="1"/>
              <a:t>Elisco</a:t>
            </a:r>
            <a:endParaRPr lang="en-US" sz="3800" dirty="0"/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Project Evaluators: Kevan Lamm, Dr. Craig Bednarz, Dr. Girish Panicker, Dr. Wayne Ebelhar</a:t>
            </a:r>
          </a:p>
          <a:p>
            <a:pPr marL="742950" indent="-742950">
              <a:spcAft>
                <a:spcPts val="800"/>
              </a:spcAft>
              <a:buFont typeface="+mj-lt"/>
              <a:buAutoNum type="arabicPeriod"/>
            </a:pPr>
            <a:r>
              <a:rPr lang="en-US" sz="3800" dirty="0"/>
              <a:t>Stakeholder Advisory Panel: Paul Hishmeh, Gaylon Morgan, Jeremy Brown, Aradhya Chandrasekhar, Kody Bessent/Shawn Wade, Sandra Marquardt, Tom Dowling, Corrie Bowen, Jane Deaver</a:t>
            </a:r>
          </a:p>
        </p:txBody>
      </p:sp>
      <p:pic>
        <p:nvPicPr>
          <p:cNvPr id="7" name="Picture 6" descr="A close-up of logos&#10;&#10;AI-generated content may be incorrect.">
            <a:extLst>
              <a:ext uri="{FF2B5EF4-FFF2-40B4-BE49-F238E27FC236}">
                <a16:creationId xmlns:a16="http://schemas.microsoft.com/office/drawing/2014/main" id="{513DC3E4-FD2A-6795-577E-C52502FA6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5858" y="36568096"/>
            <a:ext cx="2236289" cy="12240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8A5481-2A16-3333-7850-0C96E103D52C}"/>
              </a:ext>
            </a:extLst>
          </p:cNvPr>
          <p:cNvGrpSpPr/>
          <p:nvPr/>
        </p:nvGrpSpPr>
        <p:grpSpPr>
          <a:xfrm>
            <a:off x="20970577" y="6040289"/>
            <a:ext cx="15388551" cy="10357778"/>
            <a:chOff x="18159040" y="6138639"/>
            <a:chExt cx="17188641" cy="1056563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F807DFA-A838-F8F4-CE44-F168EC7E2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24" r="2113"/>
            <a:stretch>
              <a:fillRect/>
            </a:stretch>
          </p:blipFill>
          <p:spPr>
            <a:xfrm>
              <a:off x="18159040" y="6138639"/>
              <a:ext cx="17188641" cy="1056563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18E075-4871-9FD6-72C6-8C9892D8B7DA}"/>
                </a:ext>
              </a:extLst>
            </p:cNvPr>
            <p:cNvSpPr txBox="1"/>
            <p:nvPr/>
          </p:nvSpPr>
          <p:spPr>
            <a:xfrm>
              <a:off x="21546640" y="8993173"/>
              <a:ext cx="1828800" cy="1057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 | Research</a:t>
              </a:r>
            </a:p>
            <a:p>
              <a:r>
                <a:rPr lang="en-US" sz="2000" dirty="0"/>
                <a:t>O| Outreach</a:t>
              </a:r>
            </a:p>
            <a:p>
              <a:r>
                <a:rPr lang="en-US" sz="2000" dirty="0"/>
                <a:t>E | Education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5E19E0-9A6C-7298-8DBE-11E1FEA0EAA6}"/>
              </a:ext>
            </a:extLst>
          </p:cNvPr>
          <p:cNvCxnSpPr>
            <a:cxnSpLocks/>
          </p:cNvCxnSpPr>
          <p:nvPr/>
        </p:nvCxnSpPr>
        <p:spPr>
          <a:xfrm>
            <a:off x="954677" y="4665087"/>
            <a:ext cx="35581044" cy="67724"/>
          </a:xfrm>
          <a:prstGeom prst="line">
            <a:avLst/>
          </a:prstGeom>
          <a:ln w="762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8" name="Picture 27" descr="A logo with a plant in a circle&#10;&#10;AI-generated content may be incorrect.">
            <a:extLst>
              <a:ext uri="{FF2B5EF4-FFF2-40B4-BE49-F238E27FC236}">
                <a16:creationId xmlns:a16="http://schemas.microsoft.com/office/drawing/2014/main" id="{86E3C0B1-FDFE-D49C-B42A-D11D86D4C5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098" y="4808131"/>
            <a:ext cx="4281179" cy="42811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537622-DE01-91FF-6E11-A1D16AE08D16}"/>
              </a:ext>
            </a:extLst>
          </p:cNvPr>
          <p:cNvSpPr txBox="1"/>
          <p:nvPr/>
        </p:nvSpPr>
        <p:spPr>
          <a:xfrm>
            <a:off x="20872992" y="15904300"/>
            <a:ext cx="15662729" cy="1077218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cs typeface="Arial" panose="020B0604020202020204" pitchFamily="34" charset="0"/>
              </a:rPr>
              <a:t>Fig. 1. </a:t>
            </a:r>
            <a:r>
              <a:rPr lang="en-US" sz="3200" dirty="0">
                <a:cs typeface="Arial" panose="020B0604020202020204" pitchFamily="34" charset="0"/>
              </a:rPr>
              <a:t>Project performance locations and roles across the six ecoregions (</a:t>
            </a:r>
            <a:r>
              <a:rPr lang="en-US" sz="3200" dirty="0"/>
              <a:t>Partner institutions: TX, AL, GA, NC, NM, MS, AZ, LA</a:t>
            </a:r>
            <a:r>
              <a:rPr lang="en-US" sz="3200" dirty="0">
                <a:cs typeface="Arial" panose="020B0604020202020204" pitchFamily="34" charset="0"/>
              </a:rPr>
              <a:t>) in the US Cotton Belt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7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E5169DC6B2E4B8DC3FBF4E9A96F98" ma:contentTypeVersion="2" ma:contentTypeDescription="Create a new document." ma:contentTypeScope="" ma:versionID="1d599289d37288668ea133bab4bcc9a1">
  <xsd:schema xmlns:xsd="http://www.w3.org/2001/XMLSchema" xmlns:xs="http://www.w3.org/2001/XMLSchema" xmlns:p="http://schemas.microsoft.com/office/2006/metadata/properties" xmlns:ns3="310de9e8-8d1b-42c8-8f87-57433a446721" targetNamespace="http://schemas.microsoft.com/office/2006/metadata/properties" ma:root="true" ma:fieldsID="d813e14a9f31c847c97ce9ac47cec171" ns3:_="">
    <xsd:import namespace="310de9e8-8d1b-42c8-8f87-57433a4467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de9e8-8d1b-42c8-8f87-57433a4467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F5370C-D66C-4736-90EB-A48BC87C0A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863EC3-8654-43FD-986B-D3D12B3846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0de9e8-8d1b-42c8-8f87-57433a4467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C0A0A4-23FD-4840-8B27-32B5AF8374C2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310de9e8-8d1b-42c8-8f87-57433a446721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17268</TotalTime>
  <Words>806</Words>
  <Application>Microsoft Office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Hamberg, Ryan</dc:creator>
  <cp:lastModifiedBy>Muthu V. Bagavathiannan</cp:lastModifiedBy>
  <cp:revision>1096</cp:revision>
  <dcterms:created xsi:type="dcterms:W3CDTF">2018-05-21T21:04:30Z</dcterms:created>
  <dcterms:modified xsi:type="dcterms:W3CDTF">2025-11-08T10:02:31Z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0x010100EB4E5169DC6B2E4B8DC3FBF4E9A96F98</vt:lpwstr>
  </property>
</Properties>
</file>